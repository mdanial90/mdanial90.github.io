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61c0133-9977-2c70-c5be-ec2246ff123c}">
          <p14:sldIdLst>
            <p14:sldId id="256"/>
            <p14:sldId id="257"/>
            <p14:sldId id="258"/>
            <p14:sldId id="259"/>
          </p14:sldIdLst>
        </p14:section>
        <p14:section name="Position architecture" id="{2f52d57a-af47-678b-9b33-f360955a6007}">
          <p14:sldIdLst>
            <p14:sldId id="260"/>
            <p14:sldId id="261"/>
            <p14:sldId id="262"/>
            <p14:sldId id="263"/>
            <p14:sldId id="264"/>
          </p14:sldIdLst>
        </p14:section>
        <p14:section name="Pay and talent" id="{635e3722-8565-15ca-86e8-588834ae3b69}">
          <p14:sldIdLst>
            <p14:sldId id="265"/>
            <p14:sldId id="266"/>
            <p14:sldId id="267"/>
            <p14:sldId id="268"/>
            <p14:sldId id="269"/>
          </p14:sldIdLst>
        </p14:section>
        <p14:section name="Board proposal" id="{2234638c-2690-26a4-51a9-b85f7713451d}">
          <p14:sldIdLst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Appendix" id="{0c3d56e6-9bae-5264-4203-2390793e7e40}">
          <p14:sldIdLst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F5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F2F57"/>
                </a:solidFill>
                <a:latin typeface="+mn-lt"/>
              </a:rPr>
              <a:t>Target total cash, RM '000 a year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base (12 mths)</c:v>
                </c:pt>
              </c:strCache>
            </c:strRef>
          </c:tx>
          <c:spPr>
            <a:solidFill>
              <a:srgbClr val="1B4A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880 pts</c:v>
                  </c:pt>
                  <c:pt idx="1">
                    <c:v>~970 pts</c:v>
                  </c:pt>
                  <c:pt idx="2">
                    <c:v>1,055 pts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336</c:v>
                </c:pt>
                <c:pt idx="1">
                  <c:v>384</c:v>
                </c:pt>
                <c:pt idx="2">
                  <c:v>432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13th month / AWS</c:v>
                </c:pt>
              </c:strCache>
            </c:strRef>
          </c:tx>
          <c:spPr>
            <a:solidFill>
              <a:srgbClr val="4F7DB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880 pts</c:v>
                  </c:pt>
                  <c:pt idx="1">
                    <c:v>~970 pts</c:v>
                  </c:pt>
                  <c:pt idx="2">
                    <c:v>1,055 pts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28</c:v>
                </c:pt>
                <c:pt idx="1">
                  <c:v>32</c:v>
                </c:pt>
                <c:pt idx="2">
                  <c:v>36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Target bonus (3 mths)</c:v>
                </c:pt>
              </c:strCache>
            </c:strRef>
          </c:tx>
          <c:spPr>
            <a:solidFill>
              <a:srgbClr val="C820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880 pts</c:v>
                  </c:pt>
                  <c:pt idx="1">
                    <c:v>~970 pts</c:v>
                  </c:pt>
                  <c:pt idx="2">
                    <c:v>1,055 pts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84</c:v>
                </c:pt>
                <c:pt idx="1">
                  <c:v>96</c:v>
                </c:pt>
                <c:pt idx="2">
                  <c:v>108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Car allowance</c:v>
                </c:pt>
              </c:strCache>
            </c:strRef>
          </c:tx>
          <c:spPr>
            <a:solidFill>
              <a:srgbClr val="9AA8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880 pts</c:v>
                  </c:pt>
                  <c:pt idx="1">
                    <c:v>~970 pts</c:v>
                  </c:pt>
                  <c:pt idx="2">
                    <c:v>1,055 pts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24</c:v>
                </c:pt>
                <c:pt idx="1">
                  <c:v>30</c:v>
                </c:pt>
                <c:pt idx="2">
                  <c:v>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A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A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A7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seek Board approval to create and recruit the Group Head of Internal Audit 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ask. The rest of the deck supports each resolution.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pressures make a single, Board-anchored audit function urgent.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Hub sets method and does specialist work; spokes execute at site under the group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2855" y="384048"/>
            <a:ext cx="1600200" cy="32964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MMC Port Holdings Berhad  ·  Group Head of Internal Audit  ·  Strictly Private &amp; Confidential  ·  Draft for discussion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468880" cy="685800"/>
          </a:xfrm>
          <a:prstGeom prst="rect">
            <a:avLst>
              <a:gd name="adj" fmla="val 10667"/>
            </a:avLst>
          </a:prstGeom>
          <a:solidFill>
            <a:schemeClr val="bg1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74060"/>
            <a:ext cx="2194560" cy="45207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691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BOARD PAPER  ·  STRICTLY PRIVATE &amp; CONFIDENTIAL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Head of Internal Audit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118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Role architecture, governance and talent proposal for MMC Port Holdings Berhad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394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Prepared for the Executive Chairman (Mr Sultan), Group CEO (Mr Glenn Hilton) and the Board of Directors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Kuala Lumpur  ·  October 2026  ·  Draft for discussion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74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summary: one independent audit voice for the Group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415" cy="11430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10545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Recommendation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Appoint a Group Head of Internal Audit (GHIA) reporting directly to the Board, through a Designated Independent Board Member, with an administrative line to the Group CEO and solid-line authority over every port company's audit team.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567864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4A8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926080"/>
            <a:ext cx="2110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880–1,055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56616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Hay points, paid at Malaysia market P50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90824" y="2743200"/>
            <a:ext cx="2567864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4A8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19424" y="2926080"/>
            <a:ext cx="2110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~RM 0.54m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619424" y="356616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target total cash at band midpoint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33008" y="2743200"/>
            <a:ext cx="2567864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4A8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61608" y="2926080"/>
            <a:ext cx="2110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Board-direct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56616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functional reporting line; no audit committee for now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75191" y="2743200"/>
            <a:ext cx="2567864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4A8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303791" y="2926080"/>
            <a:ext cx="2110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ports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9303791" y="356616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PTP, Northport, Johor, Penang, Tg Bruas, Andaman + cruise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617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Board resolutions sought today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983480"/>
            <a:ext cx="11094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Approve the role, its charter principles and direct-to-Board reporting line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Approve the grade (880–1,055 Hay points) and pay at Malaysia P50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Authorise a retained search, with a shortlist to the Board within 10 weeks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74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role, and why now</a:t>
            </a:r>
            <a:endParaRPr lang="en-US" sz="3000" dirty="0"/>
          </a:p>
        </p:txBody>
      </p:sp>
      <p:sp>
        <p:nvSpPr>
          <p:cNvPr id="3" name="driver0"/>
          <p:cNvSpPr/>
          <p:nvPr/>
        </p:nvSpPr>
        <p:spPr>
          <a:xfrm>
            <a:off x="548640" y="1371600"/>
            <a:ext cx="3515258" cy="2331720"/>
          </a:xfrm>
          <a:prstGeom prst="roundRect">
            <a:avLst>
              <a:gd name="adj" fmla="val 392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18123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45920"/>
            <a:ext cx="2143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assurance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688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port company audits its own way. No single, independent opinion on group-wide control reaches the Board.</a:t>
            </a:r>
            <a:endParaRPr lang="en-US" sz="1400" dirty="0"/>
          </a:p>
        </p:txBody>
      </p:sp>
      <p:sp>
        <p:nvSpPr>
          <p:cNvPr id="8" name="driver1"/>
          <p:cNvSpPr/>
          <p:nvPr/>
        </p:nvSpPr>
        <p:spPr>
          <a:xfrm>
            <a:off x="4338218" y="1371600"/>
            <a:ext cx="3515258" cy="2331720"/>
          </a:xfrm>
          <a:prstGeom prst="roundRect">
            <a:avLst>
              <a:gd name="adj" fmla="val 392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12538" y="16459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8959" y="181234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35498" y="1645920"/>
            <a:ext cx="2143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MACC Act s.17A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24688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company and its leaders are liable for corruption by associated persons unless “adequate procedures” are proven.</a:t>
            </a:r>
            <a:endParaRPr lang="en-US" sz="1400" dirty="0"/>
          </a:p>
        </p:txBody>
      </p:sp>
      <p:sp>
        <p:nvSpPr>
          <p:cNvPr id="13" name="driver2"/>
          <p:cNvSpPr/>
          <p:nvPr/>
        </p:nvSpPr>
        <p:spPr>
          <a:xfrm>
            <a:off x="8127797" y="1371600"/>
            <a:ext cx="3515258" cy="2331720"/>
          </a:xfrm>
          <a:prstGeom prst="roundRect">
            <a:avLst>
              <a:gd name="adj" fmla="val 392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402117" y="1645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8538" y="181234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25077" y="1645920"/>
            <a:ext cx="2143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 &amp; automation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24688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Multi-year, multi-billion-ringgit terminal expansion is the largest single source of leakage and collusion risk.</a:t>
            </a:r>
            <a:endParaRPr lang="en-US" sz="1400" dirty="0"/>
          </a:p>
        </p:txBody>
      </p:sp>
      <p:sp>
        <p:nvSpPr>
          <p:cNvPr id="18" name="driver3"/>
          <p:cNvSpPr/>
          <p:nvPr/>
        </p:nvSpPr>
        <p:spPr>
          <a:xfrm>
            <a:off x="548640" y="3977640"/>
            <a:ext cx="3515258" cy="2331720"/>
          </a:xfrm>
          <a:prstGeom prst="roundRect">
            <a:avLst>
              <a:gd name="adj" fmla="val 392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22960" y="42519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81" y="441838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45920" y="4251960"/>
            <a:ext cx="2143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IT/OT cyber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50749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Ports are national critical infrastructure under the Cyber Security Act 2024. An OT incident can halt transshipment.</a:t>
            </a:r>
            <a:endParaRPr lang="en-US" sz="1400" dirty="0"/>
          </a:p>
        </p:txBody>
      </p:sp>
      <p:sp>
        <p:nvSpPr>
          <p:cNvPr id="23" name="driver4"/>
          <p:cNvSpPr/>
          <p:nvPr/>
        </p:nvSpPr>
        <p:spPr>
          <a:xfrm>
            <a:off x="4338218" y="3977640"/>
            <a:ext cx="3515258" cy="2331720"/>
          </a:xfrm>
          <a:prstGeom prst="roundRect">
            <a:avLst>
              <a:gd name="adj" fmla="val 392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612538" y="42519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8959" y="4418381"/>
            <a:ext cx="307238" cy="30723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35498" y="4251960"/>
            <a:ext cx="2143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Capital-markets readiness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4612538" y="50749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listing or major financing needs a Bursa-compliant internal audit function and a defensible SORMIC.</a:t>
            </a:r>
            <a:endParaRPr lang="en-US" sz="1400" dirty="0"/>
          </a:p>
        </p:txBody>
      </p:sp>
      <p:sp>
        <p:nvSpPr>
          <p:cNvPr id="28" name="driver5"/>
          <p:cNvSpPr/>
          <p:nvPr/>
        </p:nvSpPr>
        <p:spPr>
          <a:xfrm>
            <a:off x="8127797" y="3977640"/>
            <a:ext cx="3515258" cy="2331720"/>
          </a:xfrm>
          <a:prstGeom prst="roundRect">
            <a:avLst>
              <a:gd name="adj" fmla="val 392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402117" y="42519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8538" y="4418381"/>
            <a:ext cx="307238" cy="30723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225077" y="4251960"/>
            <a:ext cx="2143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ESG &amp; regulators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8402117" y="50749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Sustainability disclosure (NSRF), Customs and port-authority oversight are all intensifying.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74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model: one hub, four port spokes, one 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206240" cy="4754880"/>
          </a:xfrm>
          <a:prstGeom prst="roundRect">
            <a:avLst>
              <a:gd name="adj" fmla="val 2174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Internal Audit Hub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Kuala Lumpur  ·  ~12–16 people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3657600" cy="685800"/>
          </a:xfrm>
          <a:prstGeom prst="roundRect">
            <a:avLst>
              <a:gd name="adj" fmla="val 10667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bg1">
                <a:alpha val="40000"/>
              </a:scheme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4688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Methodology, quality &amp; Board reporting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337560"/>
            <a:ext cx="3657600" cy="685800"/>
          </a:xfrm>
          <a:prstGeom prst="roundRect">
            <a:avLst>
              <a:gd name="adj" fmla="val 10667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bg1">
                <a:alpha val="40000"/>
              </a:scheme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33375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Investigations &amp; integrity (s.17A)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4206240"/>
            <a:ext cx="3657600" cy="685800"/>
          </a:xfrm>
          <a:prstGeom prst="roundRect">
            <a:avLst>
              <a:gd name="adj" fmla="val 10667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bg1">
                <a:alpha val="40000"/>
              </a:scheme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42062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IT/OT &amp; data analytics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5074920"/>
            <a:ext cx="3657600" cy="685800"/>
          </a:xfrm>
          <a:prstGeom prst="roundRect">
            <a:avLst>
              <a:gd name="adj" fmla="val 10667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bg1">
                <a:alpha val="40000"/>
              </a:scheme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50749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CapEx &amp; contract audit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03520" y="1371600"/>
            <a:ext cx="3032608" cy="1234440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 w="9525">
            <a:solidFill>
              <a:srgbClr val="C9D6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4A8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532120" y="1554480"/>
            <a:ext cx="2575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PTP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532120" y="1965960"/>
            <a:ext cx="2575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Audit team; JV interface with APM Terminals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610448" y="1371600"/>
            <a:ext cx="3032608" cy="1234440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 w="9525">
            <a:solidFill>
              <a:srgbClr val="C9D6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4A8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839048" y="1554480"/>
            <a:ext cx="2575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Northport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839048" y="1965960"/>
            <a:ext cx="2575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Audit team; Port Klang operations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03520" y="2834640"/>
            <a:ext cx="3032608" cy="1234440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 w="9525">
            <a:solidFill>
              <a:srgbClr val="C9D6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4A8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5532120" y="3017520"/>
            <a:ext cx="2575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Johor Port &amp; Tg Bruas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532120" y="3429000"/>
            <a:ext cx="2575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Audit team; Johor &amp; Melaka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610448" y="2834640"/>
            <a:ext cx="3032608" cy="1234440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 w="9525">
            <a:solidFill>
              <a:srgbClr val="C9D6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4A8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839048" y="3017520"/>
            <a:ext cx="2575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Penang &amp; Andaman Port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839048" y="3429000"/>
            <a:ext cx="2575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Audit team; northern region incl. Yan, Kedah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303520" y="4434840"/>
            <a:ext cx="6339535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532120" y="4572000"/>
            <a:ext cx="58823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b="1" dirty="0">
                <a:solidFill>
                  <a:schemeClr val="tx1"/>
                </a:solidFill>
              </a:rPr>
              <a:t>Design rule: </a:t>
            </a:r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one audit universe, one rating scale, one issue tracker, one Board report.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b="1" dirty="0">
                <a:solidFill>
                  <a:schemeClr val="tx1"/>
                </a:solidFill>
              </a:rPr>
              <a:t>Independence at site level: </a:t>
            </a:r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port audit heads are hired, appraised and rotated by the GHIA, with port CEO input.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b="1" dirty="0">
                <a:solidFill>
                  <a:schemeClr val="tx1"/>
                </a:solidFill>
              </a:rPr>
              <a:t>Flex capacity: </a:t>
            </a:r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a pre-qualified co-source panel for forensic, OT cyber and engineering skills.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74060"/>
            <a:ext cx="2194560" cy="45207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10312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architecture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6118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Role identity, Hay evaluation, accountabilities and KPIs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74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role at a glance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534095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Head of Internal Audit (GHIA) / Chief Audit Executive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Management; 880–1,055 Hay points, paid at Malaysia market P50 (≈ KF reference level 19–20, Mercer IPE 56–58: to be confirmed by HR)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reporting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 of Directors, through a Designated Independent Board Member (an independent NED, not the Executive Chairman). The Board approves charter, plan, budget, appointment, removal, pay and appraisal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Administrative reporting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CEO: leave, travel, facilities and HR process only; no power to limit scope or change findings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relationships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Board; Group CFO; Chief Risk Officer; Group Integrity; Group CIO/CISO; port CEOs; MMC Corporation Group Internal Audit; external auditors; regulators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4–5 hub heads and 4 port audit heads; function of ~35–55 people (to confirm by capacity model)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Kuala Lumpur, with ~30–40% travel to Johor, Klang, Penang and Kedah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IIA Global Internal Audit Standards (2024); Bursa MMLR 15.27; MCCG 2021; MACC Act s.17A and the Guidelines on Adequate Procedures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74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 evaluation: 880–1,055 points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15258" cy="3977640"/>
          </a:xfrm>
          <a:prstGeom prst="roundRect">
            <a:avLst>
              <a:gd name="adj" fmla="val 2601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4A8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5544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494" y="170901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554480"/>
            <a:ext cx="22350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Know-How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8600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460–528 pts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74320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F / I–II / 3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154680"/>
            <a:ext cx="296661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Seasoned mastery of audit, risk, control and forensics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Fluent in port operations, concessions and engineering procurement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Data analytics, CAATs and AI-assisted testing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Influences Board, port CEOs and regulators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38218" y="1325880"/>
            <a:ext cx="3515258" cy="3977640"/>
          </a:xfrm>
          <a:prstGeom prst="roundRect">
            <a:avLst>
              <a:gd name="adj" fmla="val 2601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4A8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2538" y="15544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072" y="170901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44058" y="1554480"/>
            <a:ext cx="22350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Solving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4612538" y="228600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230–304 pts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4612538" y="274320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E–F / 4 (50–57%)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4612538" y="3154680"/>
            <a:ext cx="296661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Control gaps that cross port-company boundaries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Collusive schemes: vendor cartels, bid rotation, inflated variation orders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New risks: automation, OT cyber, ESG claims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8127797" y="1325880"/>
            <a:ext cx="3515258" cy="3977640"/>
          </a:xfrm>
          <a:prstGeom prst="roundRect">
            <a:avLst>
              <a:gd name="adj" fmla="val 2601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4A8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02117" y="15544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6650" y="1709014"/>
            <a:ext cx="285293" cy="285293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133637" y="1554480"/>
            <a:ext cx="22350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Accountability</a:t>
            </a:r>
            <a:endParaRPr lang="en-US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8402117" y="228600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175–230 pts</a:t>
            </a:r>
            <a:endParaRPr lang="en-US" sz="2400" dirty="0"/>
          </a:p>
        </p:txBody>
      </p:sp>
      <p:sp>
        <p:nvSpPr>
          <p:cNvPr id="22" name="Text 17"/>
          <p:cNvSpPr txBox="1"/>
          <p:nvPr/>
        </p:nvSpPr>
        <p:spPr>
          <a:xfrm>
            <a:off x="8402117" y="274320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E–F / 3–4 / Contributory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8402117" y="3154680"/>
            <a:ext cx="296661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Sets the audit agenda, subject only to Board approval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Unrestricted access to records, people and property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Shapes results indirectly through assurance and loss prevention</a:t>
            </a:r>
            <a:endParaRPr lang="en-US" sz="1350" dirty="0"/>
          </a:p>
        </p:txBody>
      </p:sp>
      <p:sp>
        <p:nvSpPr>
          <p:cNvPr id="24" name="Shape 19"/>
          <p:cNvSpPr/>
          <p:nvPr/>
        </p:nvSpPr>
        <p:spPr>
          <a:xfrm>
            <a:off x="548640" y="5532120"/>
            <a:ext cx="11094415" cy="68580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822960" y="55321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Total ≈ 880–1,055 Hay points  ·  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lower end: first-time group CAE or function still being built; upper end: proven CAE running the full hub-and-spoke function. Factor split is indicative.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74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 and six core accountabilities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Give the Board independent, risk-based assurance on governance, risk and control across MMC Ports, its port companies, JVs and projects, protecting assets, concessions, licences and reputation.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410048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2402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130552"/>
            <a:ext cx="422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Risk-based audit planning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514600"/>
            <a:ext cx="422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Audit universe; 3-year strategy and annual plan tied to the risk register and Board risk appetite.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33008" y="1965960"/>
            <a:ext cx="5410048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61608" y="22402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61608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193128" y="2130552"/>
            <a:ext cx="422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&amp; port audit governance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193128" y="2514600"/>
            <a:ext cx="422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Charter, methodology, ratings, QAIP; leads port audit teams; external quality assessment every 5 years.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5410048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703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593592"/>
            <a:ext cx="422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&amp; investigations (s.17A)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977640"/>
            <a:ext cx="422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Tests the anti-corruption programme against T.R.U.S.T.; leads whistleblowing investigations.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33008" y="3429000"/>
            <a:ext cx="5410048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61608" y="3703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61608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193128" y="3593592"/>
            <a:ext cx="422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CapEx, procurement &amp; contracts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193128" y="3977640"/>
            <a:ext cx="422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Pre-award, in-flight and post-completion audits; tender integrity; variation orders; concession compliance.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4892040"/>
            <a:ext cx="5410048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1663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5166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508760" y="5056632"/>
            <a:ext cx="422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&amp; continuous auditing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508760" y="5440680"/>
            <a:ext cx="422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Analytics on ERP, TOS, billing and gate data; continuous monitoring; IT and OT security audits.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233008" y="4892040"/>
            <a:ext cx="5410048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61608" y="51663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61608" y="5166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7193128" y="5056632"/>
            <a:ext cx="422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reporting &amp; combined assurance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193128" y="5440680"/>
            <a:ext cx="422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Quarterly Board report and overall control opinion; supports the SORMIC; aligns all assurance providers.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74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1828800"/>
                <a:gridCol w="1783080"/>
                <a:gridCol w="1813255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plan delivered (risk-adjusted)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Quantitative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85%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95%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High-risk findings fixed by agreed date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Quantitative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80%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95%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fix time, high-risk findings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Quantitative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120 days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90 days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 findings (same root cause, 24 months)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Quantitative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−30%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−60%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universe under continuous monitoring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Quantitative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25%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60%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issued after fieldwork ends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Quantitative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30 days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15 days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Validated recoveries / cost avoided vs IA cost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Quantitative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3×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5×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Whistleblowing cases triaged in 5 working days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Quantitative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quality assessment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Qualitative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Readiness review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Generally Conforms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 satisfaction survey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Qualitative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4.0 / 5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4.5 / 5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holding professional certification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Qualitative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40%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70%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74060"/>
            <a:ext cx="2194560" cy="45207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10312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and talent market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6118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Malaysia P50 compensation, candidate profile and sourcing outlook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74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at Malaysia P50: ~RM 0.47m–0.62m total cash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54864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325880"/>
          <a:ext cx="533369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170432"/>
                <a:gridCol w="1170432"/>
                <a:gridCol w="125547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base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 28k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 32k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 36k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Guaranteed (13 mths)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 364k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 416k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 468k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bonus (3 mths)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 84k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 96k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 108k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 allowance / month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 2.0k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 2.5k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 3.5k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total cash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RM 0.47m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RM 0.54m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RM 0.62m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309360" y="4114800"/>
            <a:ext cx="533369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Plus employer EPF (~RM 55k–75k), medical, club, phone and professional fees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Above band max: one-off sign-on, not a wider band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Board (Designated Board Member) signs off offer and KPIs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RM figures are estimates; replace with your Korn Ferry P50 cut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74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profile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15258" cy="4892040"/>
          </a:xfrm>
          <a:prstGeom prst="roundRect">
            <a:avLst>
              <a:gd name="adj" fmla="val 2601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4A8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69712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55448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have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31720"/>
            <a:ext cx="296661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Degree in accounting, finance or engineering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MIA member (CA(M)) and/or ACCA, CPA, ICAEW, CIMA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CIA, or obtain within 18 months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15+ years in audit, risk or assurance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5+ years heading or deputising for an audit division in an asset-heavy group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Board reporting and investigations track record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Clean integrity and background screening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38218" y="1325880"/>
            <a:ext cx="3515258" cy="4892040"/>
          </a:xfrm>
          <a:prstGeom prst="roundRect">
            <a:avLst>
              <a:gd name="adj" fmla="val 2601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4A8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12538" y="155448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5185" y="16971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98338" y="155448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Strongly preferred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2331720"/>
            <a:ext cx="296661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CFE, CISA or CRMA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Ports, shipping, aviation, utilities, oil &amp; gas or construction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Major project / EPCC contract audit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Built data analytics or continuous monitoring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IPO readiness or Bursa compliance experience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127797" y="1325880"/>
            <a:ext cx="3515258" cy="4892040"/>
          </a:xfrm>
          <a:prstGeom prst="roundRect">
            <a:avLst>
              <a:gd name="adj" fmla="val 2601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4A8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402117" y="15544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763" y="1697126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87917" y="155448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2331720"/>
            <a:ext cx="296661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Courage and independent judgement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Board-level presence; concise communicator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Commercial and operational acumen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Builds teams across distributed sites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Fluent Bahasa Malaysia and English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74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find the right candidate at this band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645920"/>
                <a:gridCol w="2926080"/>
                <a:gridCol w="277337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Talent pool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at this band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Watch-outs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 Four risk advisory / IA directors and senior managers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(~60–90)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on method, analytics, forensics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in-house leadership; partners usually above band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Deputy CAEs / Senior GMs IA in GLCs and GLIC investees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(~30–50)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on governance, MACC, Board reporting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CAE role; may need coaching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Heads of IA in mid-cap infrastructure, construction, property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(~20–30)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on CapEx and contract audit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port and OT exposure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Aviation, maritime and logistics (MAHB, MISC, Westports, Bintulu Port)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 (~10–20)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Closest operating match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 sensitivities; non-solicits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CAEs of the largest GLCs / Big Four partners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Typically above band; need sign-on or regrade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892040"/>
            <a:ext cx="11094415" cy="1325880"/>
          </a:xfrm>
          <a:prstGeom prst="roundRect">
            <a:avLst>
              <a:gd name="adj" fmla="val 6897"/>
            </a:avLst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22960" y="5138928"/>
            <a:ext cx="822960" cy="8229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5352898"/>
            <a:ext cx="395021" cy="39502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920240" y="4892040"/>
            <a:ext cx="944849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Verdict: achievable.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shortlist of 5–7 in 8–10 weeks of retained search; start in 4–6 months. ~60–70% chance of a strong hire within band, ~80% with a sign-on. Most likely hire: a strong deputy CAE or Big Four director stepping up.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74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Selling the role: headwinds and tailwinds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410048" cy="4892040"/>
          </a:xfrm>
          <a:prstGeom prst="roundRect">
            <a:avLst>
              <a:gd name="adj" fmla="val 1869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4A8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554480"/>
            <a:ext cx="594360" cy="59436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494" y="170901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554480"/>
            <a:ext cx="412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Headwinds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6140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Frequent travel to Johor, Klang, Penang and Kedah; 24/7 sites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Scrutiny from Board, parent group, JV partners, Customs, MACC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Group vs port reporting and long-standing local cultures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Pay at P50 is below the most senior CAEs and Big Four partners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Perceived personal exposure under s.17A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Small pool; 3-month notice and counter-offers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33008" y="1325880"/>
            <a:ext cx="5410048" cy="4892040"/>
          </a:xfrm>
          <a:prstGeom prst="roundRect">
            <a:avLst>
              <a:gd name="adj" fmla="val 1869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4A8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07328" y="1554480"/>
            <a:ext cx="594360" cy="5943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861" y="170901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38848" y="1554480"/>
            <a:ext cx="412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507328" y="2377440"/>
            <a:ext cx="486140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Guardian of Malaysia's maritime gateway and a top global transshipment hub (PTP)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Rare direct reporting line to the Board itself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Mandate to build a modern, analytics-first function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Exposure to automation, smart-port and decarbonisation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Possible listing-linked LTIP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Path to Group CRO, CFO or CAE of the wider MMC group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74060"/>
            <a:ext cx="2194560" cy="45207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10312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proposal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6118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Governance structure, first 100 days and value to the Group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74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Governance: reporting directly to the Board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697480" y="1325880"/>
            <a:ext cx="292608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9525">
            <a:solidFill>
              <a:srgbClr val="C9D6E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697480" y="1325880"/>
            <a:ext cx="29260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Board of Directors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Executive Chairman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301752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rgbClr val="C9D6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377440"/>
            <a:ext cx="30175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Designated Independent Board Member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Independent NED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2377440"/>
            <a:ext cx="301752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rgbClr val="C9D6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2377440"/>
            <a:ext cx="30175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Group CEO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Administrative line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60520" y="1965960"/>
            <a:ext cx="914" cy="210312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2176272"/>
            <a:ext cx="1920240" cy="91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40280" y="2176272"/>
            <a:ext cx="914" cy="201168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60520" y="2176272"/>
            <a:ext cx="1920240" cy="91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0760" y="2176272"/>
            <a:ext cx="914" cy="201168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23160" y="3520440"/>
            <a:ext cx="347472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3175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423160" y="3520440"/>
            <a:ext cx="34747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Group Head of Internal Audit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240280" y="3108960"/>
            <a:ext cx="914" cy="77724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40280" y="3886200"/>
            <a:ext cx="182880" cy="91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3108960"/>
            <a:ext cx="914" cy="77724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 flipH="1">
            <a:off x="5897880" y="3886200"/>
            <a:ext cx="182880" cy="914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4160520" y="4251960"/>
            <a:ext cx="914" cy="22860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572000"/>
            <a:ext cx="170307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9525">
            <a:solidFill>
              <a:srgbClr val="C9D6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572000"/>
            <a:ext cx="170307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Method &amp; QA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388870" y="4572000"/>
            <a:ext cx="170307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9525">
            <a:solidFill>
              <a:srgbClr val="C9D6E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388870" y="4572000"/>
            <a:ext cx="170307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Investigations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229100" y="4572000"/>
            <a:ext cx="170307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9525">
            <a:solidFill>
              <a:srgbClr val="C9D6E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229100" y="4572000"/>
            <a:ext cx="170307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IT/OT &amp; data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069330" y="4572000"/>
            <a:ext cx="170307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9525">
            <a:solidFill>
              <a:srgbClr val="C9D6E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069330" y="4572000"/>
            <a:ext cx="170307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CapEx &amp; contracts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5349240"/>
            <a:ext cx="170307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9525">
            <a:solidFill>
              <a:srgbClr val="C9D6E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5349240"/>
            <a:ext cx="170307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PTP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388870" y="5349240"/>
            <a:ext cx="170307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9525">
            <a:solidFill>
              <a:srgbClr val="C9D6E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388870" y="5349240"/>
            <a:ext cx="170307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Northport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229100" y="5349240"/>
            <a:ext cx="170307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9525">
            <a:solidFill>
              <a:srgbClr val="C9D6E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229100" y="5349240"/>
            <a:ext cx="170307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Johor &amp; Tg Bruas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069330" y="5349240"/>
            <a:ext cx="170307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9525">
            <a:solidFill>
              <a:srgbClr val="C9D6E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069330" y="5349240"/>
            <a:ext cx="170307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Penang &amp; Andaman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48640" y="4480560"/>
            <a:ext cx="7223760" cy="91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48640" y="603504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Solid: functional line   ·   Dashed: administrative line   ·   Row 1: hub units   ·   Row 2: port audit teams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138160" y="1325880"/>
            <a:ext cx="3504895" cy="4892040"/>
          </a:xfrm>
          <a:prstGeom prst="roundRect">
            <a:avLst>
              <a:gd name="adj" fmla="val 2609"/>
            </a:avLst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366760" y="1463040"/>
            <a:ext cx="3047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Safeguards without an audit committee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8366760" y="2057400"/>
            <a:ext cx="304769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Internal audit is a standing item at every Board meeting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Private sessions with non-executive directors at least twice a year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Any scope limitation reported to the Board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Board sets the GHIA's appointment, pay and appraisal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Not the Executive Chairman: the role is executive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Review need for an audit committee within 12 months or before any listing (Bursa MMLR 15.09)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74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decides what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920240"/>
                <a:gridCol w="1691640"/>
                <a:gridCol w="1188720"/>
                <a:gridCol w="1508760"/>
                <a:gridCol w="1493215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/ activity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CEO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CEOs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MMC Corp GIA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audit charter and annual plan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GHIA appointment, removal, pay, appraisal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audit budget and headcount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reports and ratings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Responds and fixes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Investigations (fraud, s.17A)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Oversees via Designated Board Member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Informed (unless conflicted)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Cooperates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Informed per protocol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audit head appointment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166360"/>
            <a:ext cx="11094415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22960" y="5321808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" y="5512003"/>
            <a:ext cx="351130" cy="35113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874520" y="5166360"/>
            <a:ext cx="94942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The GHIA holds no operational, risk-owning or compliance duties. That keeps the audit opinion independent of the work it reviews.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74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100 days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306269" y="1691640"/>
            <a:ext cx="7579157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86229" y="1371600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86229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3515258" cy="3977640"/>
          </a:xfrm>
          <a:prstGeom prst="roundRect">
            <a:avLst>
              <a:gd name="adj" fmla="val 2601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4A8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237744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DAYS 1–30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5176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and diagnose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54680"/>
            <a:ext cx="296661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Meet Board, Chairman, GCEO, CFO, CRO, port CEOs, external auditor, JV partners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List all open findings, whistleblowing cases and investigations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Review audit staff and skill gaps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" y="5303520"/>
            <a:ext cx="3149498" cy="777240"/>
          </a:xfrm>
          <a:prstGeom prst="roundRect">
            <a:avLst>
              <a:gd name="adj" fmla="val 705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530352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To Board: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State-of-assurance note; overdue high-risk register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775808" y="1371600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75808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338218" y="2240280"/>
            <a:ext cx="3515258" cy="3977640"/>
          </a:xfrm>
          <a:prstGeom prst="roundRect">
            <a:avLst>
              <a:gd name="adj" fmla="val 2601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4A8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612538" y="237744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DAYS 31–60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612538" y="265176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and stabilise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612538" y="3154680"/>
            <a:ext cx="296661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Refresh charter to the 2024 IIA Standards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One method, rating scale and issue tracker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Rapid reviews: top CapEx projects, vendor master, s.17A health check, OT cyber at PTP and Northport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521098" y="5303520"/>
            <a:ext cx="3149498" cy="777240"/>
          </a:xfrm>
          <a:prstGeom prst="roundRect">
            <a:avLst>
              <a:gd name="adj" fmla="val 705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58258" y="530352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To Board: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Approved charter; draft 3-year audit strategy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565386" y="1371600"/>
            <a:ext cx="640080" cy="64008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565386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127797" y="2240280"/>
            <a:ext cx="3515258" cy="3977640"/>
          </a:xfrm>
          <a:prstGeom prst="roundRect">
            <a:avLst>
              <a:gd name="adj" fmla="val 2601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4A8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402117" y="237744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DAYS 61–100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402117" y="265176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and signal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8402117" y="3154680"/>
            <a:ext cx="296661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Launch 2–3 high-visibility audits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Analytics pilot: duplicate payments, split POs, vendor–staff matches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Set up co-source panel and quality programme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310677" y="5303520"/>
            <a:ext cx="3149498" cy="777240"/>
          </a:xfrm>
          <a:prstGeom prst="roundRect">
            <a:avLst>
              <a:gd name="adj" fmla="val 705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447837" y="530352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To Board: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Day-100 Board pack: model, budget, 2027 plan, first recoveries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74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to value: how the role protects EBITDA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291840" cy="1463040"/>
          </a:xfrm>
          <a:prstGeom prst="roundRect">
            <a:avLst>
              <a:gd name="adj" fmla="val 625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~RM 0.65m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305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fully loaded yearly cost of the GHIA at band midpoint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329184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1546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0.3–1.0%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764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typical recoverable leakage on CapEx and procurement spend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617720"/>
            <a:ext cx="329184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8006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5×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4223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Year-3 target: recoveries and avoided cost vs total IA cost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1325880"/>
          <a:ext cx="752825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2590495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lever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Illustrative impact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 &amp; contracts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Tender review, variation order and claims audit, enforce damages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0.5% avoided on RM 1bn project spend = RM 5m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Procurement analytics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Bid-rigging signs, duplicate payments, vendor master clean-up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0.2–0.5% of addressable spend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assurance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Tariff, storage and marine billing completeness; waivers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EBITDA uplift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Licences &amp; concessions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Concession KPI, safety and environmental controls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Protects long-dated cash flows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s.17A shield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testing of adequate procedures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Fines up to 10× the bribe or RM 1m, whichever is higher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 / OT resilience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 segmentation, incident response, NCII compliance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Avoids costly hub-port downtime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74060"/>
            <a:ext cx="2194560" cy="45207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463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resolutions sought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25146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2423160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Approve the GHIA role, charter principles, and functional reporting directly to the Board through a Designated Independent Board Member, with an administrative line to the Group CEO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3502152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3502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3410712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Approve the grade at 880–1,055 Hay points paid at Malaysia P50, with authority for a one-off sign-on for an exceptional candidate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4489704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44897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4398264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Authorise a retained executive search, with a shortlist to the Board within 10 weeks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8640" y="5477256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54772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371600" y="5385816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Approve the hub-and-spoke operating model at Day 100, and review the need for an audit committee within 12 months or before any listing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74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port footprint and audit themes</a:t>
            </a:r>
            <a:endParaRPr lang="en-US" sz="3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828800"/>
                <a:gridCol w="3474720"/>
                <a:gridCol w="2956255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audit themes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Pelabuhan Tanjung Pelepas (PTP)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Johor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transshipment hub; JV with APM Terminals; automation and expansion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JV audit rights, CapEx, OT cyber, productivity data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Northport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Klang, Selangor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Container, conventional and liquid bulk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renewal, labour contractors, billing, safety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Johor Port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Pasir Gudang, Johor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Multipurpose; palm oil, liquid and dry bulk; free zone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Free-zone and customs controls, bulk losses, environment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Penang Port (incl. Swettenham Pier Cruise Terminal)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Penang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Container, conventional, cruise, ferry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Cruise and ferry revenue, marine services, dredging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Tanjung Bruas Port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Melaka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Smaller multipurpose port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Covered by Johor audit team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Andaman Port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Yan, Kedah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Northern-region port; covered by Penang audit team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 and CapEx, contractors, land and licences, environmental permits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74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assumptions and next checks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10048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459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494" y="180045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645920"/>
            <a:ext cx="412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figures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486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RM values are estimates of Malaysia P50 across 880–1,055 points. Replace with MMC Ports' Korn Ferry PayNet cut before any offer.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33008" y="1371600"/>
            <a:ext cx="5410048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07328" y="16459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861" y="180045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38848" y="1645920"/>
            <a:ext cx="412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evaluation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507328" y="2423160"/>
            <a:ext cx="486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880–1,055 total is MMC Ports' range. The factor split and KF/Mercer equivalents are indicative; confirm with the HR evaluation committee.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3794760"/>
            <a:ext cx="5410048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2960" y="40690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94" y="422361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54480" y="4069080"/>
            <a:ext cx="412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4846320"/>
            <a:ext cx="486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Confirm ownership percentages, JV terms and listing status against the latest annual report and Board papers.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233008" y="3794760"/>
            <a:ext cx="5410048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507328" y="40690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1861" y="422361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238848" y="4069080"/>
            <a:ext cx="412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figures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507328" y="4846320"/>
            <a:ext cx="486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Headcount (~35–55), budget and value numbers are planning ranges, not commitments.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6035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Prepared as a Board discussion draft by a specialist panel simulation; not a product of, or endorsed by, any named consulting firm.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MC Ports Board">
  <a:themeElements>
    <a:clrScheme name="MMC Ports Board">
      <a:dk1>
        <a:srgbClr val="122033"/>
      </a:dk1>
      <a:lt1>
        <a:srgbClr val="FFFFFF"/>
      </a:lt1>
      <a:dk2>
        <a:srgbClr val="0F2F57"/>
      </a:dk2>
      <a:lt2>
        <a:srgbClr val="F2F5F9"/>
      </a:lt2>
      <a:accent1>
        <a:srgbClr val="1B4A80"/>
      </a:accent1>
      <a:accent2>
        <a:srgbClr val="C8202F"/>
      </a:accent2>
      <a:accent3>
        <a:srgbClr val="E6EEF7"/>
      </a:accent3>
      <a:accent4>
        <a:srgbClr val="5B6A7D"/>
      </a:accent4>
      <a:accent5>
        <a:srgbClr val="17704A"/>
      </a:accent5>
      <a:accent6>
        <a:srgbClr val="B3412A"/>
      </a:accent6>
      <a:hlink>
        <a:srgbClr val="1B4A80"/>
      </a:hlink>
      <a:folHlink>
        <a:srgbClr val="5B6A7D"/>
      </a:folHlink>
    </a:clrScheme>
    <a:fontScheme name="MMC Ports Boar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MMC Port Holdings Berhad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Head of Internal Audit - Board Proposal</dc:title>
  <dc:subject>PptxGenJS Presentation</dc:subject>
  <dc:creator>PptxGenJS</dc:creator>
  <cp:lastModifiedBy>PptxGenJS</cp:lastModifiedBy>
  <cp:revision>1</cp:revision>
  <dcterms:created xsi:type="dcterms:W3CDTF">2026-10-22T02:59:44Z</dcterms:created>
  <dcterms:modified xsi:type="dcterms:W3CDTF">2026-10-22T02:59:44Z</dcterms:modified>
</cp:coreProperties>
</file>